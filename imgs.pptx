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CC"/>
    <a:srgbClr val="CCCC00"/>
    <a:srgbClr val="FF9999"/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04" d="100"/>
          <a:sy n="104" d="100"/>
        </p:scale>
        <p:origin x="284" y="8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D2D4C77-4696-ACE7-DF84-E577DC24EE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C72962D2-3461-AE2C-68E1-7CDEE2CCAD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5A4CFB7-5A4E-7FAD-5795-EFDFCEEDF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D8643-8420-4C4A-9040-8451C8CF9328}" type="datetimeFigureOut">
              <a:rPr lang="it-IT" smtClean="0"/>
              <a:t>03/12/2025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43D859B-D96C-A821-B208-D674C7B7B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B4B3742-F4D2-58A2-52F7-F343F1065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D705B-8437-4E49-98CD-D535633E9ED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478162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64BD708-EC41-C430-3597-E777CD0E9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0BECB12-9592-770D-B4F3-17D09C4478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29EABF1-AE64-AF45-A38D-535B8E4F3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D8643-8420-4C4A-9040-8451C8CF9328}" type="datetimeFigureOut">
              <a:rPr lang="it-IT" smtClean="0"/>
              <a:t>03/12/2025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5B38633-92F7-FF56-0C75-C57E95FCF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4266789-EB6A-FE54-6334-DB76945B8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D705B-8437-4E49-98CD-D535633E9ED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67791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B72B54C-323A-7C87-3F11-000C545C4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5DBC7D5-9A85-A8E9-6921-E016A25B1A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7B8DEC0-28BE-B61A-11B6-8320C34CF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D8643-8420-4C4A-9040-8451C8CF9328}" type="datetimeFigureOut">
              <a:rPr lang="it-IT" smtClean="0"/>
              <a:t>03/12/2025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D8257D9-FA00-A6F5-1AE1-361FDF13E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7EA69C1-D2DA-A111-8EA6-E8AD5DCE9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D705B-8437-4E49-98CD-D535633E9ED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83753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D1D0192-92DF-32C1-88FA-0524C4FFC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9EABA64-AB1F-4431-010F-BE804002FD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0F23EFDE-3801-5ED1-DBCA-59E519CB72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24C684DF-953A-D101-D1E3-92D68FEA4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D8643-8420-4C4A-9040-8451C8CF9328}" type="datetimeFigureOut">
              <a:rPr lang="it-IT" smtClean="0"/>
              <a:t>03/12/2025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898417E-B17F-8C0D-C3CE-CC4336154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5AD6622B-3BD9-3304-731F-5867053D5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D705B-8437-4E49-98CD-D535633E9ED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77655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1E84FF6-3C16-2893-93BD-9C87E4942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EF29438-E427-9686-4D2B-56E10BAA4A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862AC04-B6AE-A306-9A19-3FC49B3C05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DE860C6C-DA09-1F85-1766-366B35DE36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ADCDF4B4-1B13-1F54-72DC-920CF2B455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4A412577-24F6-A0B0-48D9-D9C375D56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D8643-8420-4C4A-9040-8451C8CF9328}" type="datetimeFigureOut">
              <a:rPr lang="it-IT" smtClean="0"/>
              <a:t>03/12/2025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8197B3CA-859E-5FBA-6F6B-197FB108F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21BD658A-1801-AEF3-266D-0D2D8C320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D705B-8437-4E49-98CD-D535633E9ED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974456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07FCA50-F083-FC2A-770B-786F8F2E4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B0658122-4B88-07F1-227F-477B2DFD6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D8643-8420-4C4A-9040-8451C8CF9328}" type="datetimeFigureOut">
              <a:rPr lang="it-IT" smtClean="0"/>
              <a:t>03/12/2025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3E298280-632F-47C0-24B7-241BDC4C6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252BE6E-3EBA-24AC-F803-F48CCE003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D705B-8437-4E49-98CD-D535633E9ED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471830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A35CC848-8168-3558-DF7E-0097C72DB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D8643-8420-4C4A-9040-8451C8CF9328}" type="datetimeFigureOut">
              <a:rPr lang="it-IT" smtClean="0"/>
              <a:t>03/12/2025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B2CCB991-C046-B7CF-8BA5-2C2AB6F93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02BDC54-E92E-1AB6-BCDB-0905237B1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D705B-8437-4E49-98CD-D535633E9ED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230176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14B81A8-192F-0546-7691-C604CE5C9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05170C5-47CC-19C9-63DE-3AA1E79631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698175B8-7810-602A-5B45-3A512C8025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2BDFB748-059C-F11A-604E-81BC7E4DB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D8643-8420-4C4A-9040-8451C8CF9328}" type="datetimeFigureOut">
              <a:rPr lang="it-IT" smtClean="0"/>
              <a:t>03/12/2025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0E37C7C8-0D1A-429C-16EA-0F9694A12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4F5A04B-2F12-BDCE-0A96-3B46E3E7F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D705B-8437-4E49-98CD-D535633E9ED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843632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C7A24E1-FA91-89A6-B974-9CEFBABF8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768BF763-7D17-ED64-A876-296F9E9CE4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2A8FF339-8085-B20E-D0DF-B6C72669A7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01B851CA-69F8-055F-C3D9-1D1F8C9F9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D8643-8420-4C4A-9040-8451C8CF9328}" type="datetimeFigureOut">
              <a:rPr lang="it-IT" smtClean="0"/>
              <a:t>03/12/2025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2BAD2D0A-DD26-1970-1A64-A3FE88D5F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A6774F23-2DF8-B077-CE9F-7B772F9AA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D705B-8437-4E49-98CD-D535633E9ED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437474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59230A7-665C-4500-D2DE-A534F700C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BE24C74F-BF17-449C-A3E1-464112F1F9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D76DFD2-E9D1-C3B3-3BDA-6B28933D0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D8643-8420-4C4A-9040-8451C8CF9328}" type="datetimeFigureOut">
              <a:rPr lang="it-IT" smtClean="0"/>
              <a:t>03/12/2025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57F262D-50CD-B52D-BB64-AE357E45D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DAEFA6F-2409-E497-8221-AB942CDB2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D705B-8437-4E49-98CD-D535633E9ED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467032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C29A3FBA-A197-4073-74CB-F2D3E803E5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B6A7C2A3-EDC0-6F60-741C-F608CBAC7C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DC47124-1C9C-7CE2-A45B-FD1CCC115C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D8643-8420-4C4A-9040-8451C8CF9328}" type="datetimeFigureOut">
              <a:rPr lang="it-IT" smtClean="0"/>
              <a:t>03/12/2025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9F48467-8B8D-7230-1EE7-3FA950587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CCCA13E-4B05-8742-11D8-0DA3AD16C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D705B-8437-4E49-98CD-D535633E9ED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086777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FF02D5F2-618B-043B-73B8-F665942BF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7B5FE7B0-D60A-456D-458A-BE7106B17C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D207293-9155-7208-11E6-BAC72382B7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CD8643-8420-4C4A-9040-8451C8CF9328}" type="datetimeFigureOut">
              <a:rPr lang="it-IT" smtClean="0"/>
              <a:t>03/12/2025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F39ACE4-2C10-9B0A-96B8-D4F077BDFA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54B28AF-560D-C830-9CDD-340A66FB7D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3D705B-8437-4E49-98CD-D535633E9ED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622271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Connettore diritto 34">
            <a:extLst>
              <a:ext uri="{FF2B5EF4-FFF2-40B4-BE49-F238E27FC236}">
                <a16:creationId xmlns:a16="http://schemas.microsoft.com/office/drawing/2014/main" id="{E48BF2AD-D70F-AE00-C5BD-37F6927A0A02}"/>
              </a:ext>
            </a:extLst>
          </p:cNvPr>
          <p:cNvCxnSpPr>
            <a:cxnSpLocks/>
          </p:cNvCxnSpPr>
          <p:nvPr/>
        </p:nvCxnSpPr>
        <p:spPr>
          <a:xfrm>
            <a:off x="3117552" y="3698787"/>
            <a:ext cx="5903710" cy="34898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ttore diritto 35">
            <a:extLst>
              <a:ext uri="{FF2B5EF4-FFF2-40B4-BE49-F238E27FC236}">
                <a16:creationId xmlns:a16="http://schemas.microsoft.com/office/drawing/2014/main" id="{CC09D059-978E-BE42-FEFA-7077068EA148}"/>
              </a:ext>
            </a:extLst>
          </p:cNvPr>
          <p:cNvCxnSpPr>
            <a:cxnSpLocks/>
          </p:cNvCxnSpPr>
          <p:nvPr/>
        </p:nvCxnSpPr>
        <p:spPr>
          <a:xfrm>
            <a:off x="3117552" y="4303000"/>
            <a:ext cx="5903710" cy="42959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ttore 2 13">
            <a:extLst>
              <a:ext uri="{FF2B5EF4-FFF2-40B4-BE49-F238E27FC236}">
                <a16:creationId xmlns:a16="http://schemas.microsoft.com/office/drawing/2014/main" id="{7BAB3730-E97C-EB00-8E10-5D85F4AF5203}"/>
              </a:ext>
            </a:extLst>
          </p:cNvPr>
          <p:cNvCxnSpPr>
            <a:cxnSpLocks/>
          </p:cNvCxnSpPr>
          <p:nvPr/>
        </p:nvCxnSpPr>
        <p:spPr>
          <a:xfrm>
            <a:off x="3209605" y="1896306"/>
            <a:ext cx="2878213" cy="1816526"/>
          </a:xfrm>
          <a:prstGeom prst="straightConnector1">
            <a:avLst/>
          </a:prstGeom>
          <a:ln w="25400" cap="flat" cmpd="sng" algn="ctr">
            <a:solidFill>
              <a:srgbClr val="00B0F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Connettore 2 14">
            <a:extLst>
              <a:ext uri="{FF2B5EF4-FFF2-40B4-BE49-F238E27FC236}">
                <a16:creationId xmlns:a16="http://schemas.microsoft.com/office/drawing/2014/main" id="{A8464E55-4D64-37A1-C501-7C0CFABC4B06}"/>
              </a:ext>
            </a:extLst>
          </p:cNvPr>
          <p:cNvCxnSpPr>
            <a:cxnSpLocks/>
          </p:cNvCxnSpPr>
          <p:nvPr/>
        </p:nvCxnSpPr>
        <p:spPr>
          <a:xfrm flipV="1">
            <a:off x="6087817" y="1853348"/>
            <a:ext cx="2528409" cy="1854371"/>
          </a:xfrm>
          <a:prstGeom prst="straightConnector1">
            <a:avLst/>
          </a:prstGeom>
          <a:ln w="25400" cap="flat" cmpd="sng" algn="ctr">
            <a:solidFill>
              <a:srgbClr val="00B0F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" name="Connettore 2 17">
            <a:extLst>
              <a:ext uri="{FF2B5EF4-FFF2-40B4-BE49-F238E27FC236}">
                <a16:creationId xmlns:a16="http://schemas.microsoft.com/office/drawing/2014/main" id="{36B7D120-9CDC-6C24-C246-1557FEE2EF0F}"/>
              </a:ext>
            </a:extLst>
          </p:cNvPr>
          <p:cNvCxnSpPr/>
          <p:nvPr/>
        </p:nvCxnSpPr>
        <p:spPr>
          <a:xfrm>
            <a:off x="3206536" y="2491587"/>
            <a:ext cx="2878213" cy="1816526"/>
          </a:xfrm>
          <a:prstGeom prst="straightConnector1">
            <a:avLst/>
          </a:prstGeom>
          <a:ln w="25400" cap="flat" cmpd="sng" algn="ctr">
            <a:solidFill>
              <a:srgbClr val="00B0F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8FE9E7D5-42CD-DF93-74A4-25ABCD2B0920}"/>
              </a:ext>
            </a:extLst>
          </p:cNvPr>
          <p:cNvCxnSpPr>
            <a:cxnSpLocks/>
          </p:cNvCxnSpPr>
          <p:nvPr/>
        </p:nvCxnSpPr>
        <p:spPr>
          <a:xfrm flipV="1">
            <a:off x="6104184" y="2453742"/>
            <a:ext cx="2528409" cy="1854371"/>
          </a:xfrm>
          <a:prstGeom prst="straightConnector1">
            <a:avLst/>
          </a:prstGeom>
          <a:ln w="25400" cap="flat" cmpd="sng" algn="ctr">
            <a:solidFill>
              <a:srgbClr val="00B0F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" name="Connettore 2 20">
            <a:extLst>
              <a:ext uri="{FF2B5EF4-FFF2-40B4-BE49-F238E27FC236}">
                <a16:creationId xmlns:a16="http://schemas.microsoft.com/office/drawing/2014/main" id="{1A936B82-0B95-2A1B-9E70-D5B7EC3FD1D4}"/>
              </a:ext>
            </a:extLst>
          </p:cNvPr>
          <p:cNvCxnSpPr>
            <a:cxnSpLocks/>
          </p:cNvCxnSpPr>
          <p:nvPr/>
        </p:nvCxnSpPr>
        <p:spPr>
          <a:xfrm flipV="1">
            <a:off x="6079124" y="1282615"/>
            <a:ext cx="5625" cy="314209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asellaDiTesto 21">
                <a:extLst>
                  <a:ext uri="{FF2B5EF4-FFF2-40B4-BE49-F238E27FC236}">
                    <a16:creationId xmlns:a16="http://schemas.microsoft.com/office/drawing/2014/main" id="{742CA5B3-B6BB-E48B-BE1E-5C77DCDCF0C0}"/>
                  </a:ext>
                </a:extLst>
              </p:cNvPr>
              <p:cNvSpPr txBox="1"/>
              <p:nvPr/>
            </p:nvSpPr>
            <p:spPr>
              <a:xfrm>
                <a:off x="5711421" y="952334"/>
                <a:ext cx="31400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it-IT" sz="36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it-IT" sz="36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acc>
                    </m:oMath>
                  </m:oMathPara>
                </a14:m>
                <a:endParaRPr lang="it-IT" sz="3600"/>
              </a:p>
            </p:txBody>
          </p:sp>
        </mc:Choice>
        <mc:Fallback xmlns="">
          <p:sp>
            <p:nvSpPr>
              <p:cNvPr id="22" name="CasellaDiTesto 21">
                <a:extLst>
                  <a:ext uri="{FF2B5EF4-FFF2-40B4-BE49-F238E27FC236}">
                    <a16:creationId xmlns:a16="http://schemas.microsoft.com/office/drawing/2014/main" id="{742CA5B3-B6BB-E48B-BE1E-5C77DCDCF0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1421" y="952334"/>
                <a:ext cx="314006" cy="64633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09FA277F-20F5-059D-C505-78CDBD4ECB57}"/>
              </a:ext>
            </a:extLst>
          </p:cNvPr>
          <p:cNvSpPr txBox="1"/>
          <p:nvPr/>
        </p:nvSpPr>
        <p:spPr>
          <a:xfrm>
            <a:off x="4758685" y="4439544"/>
            <a:ext cx="265826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200">
                <a:latin typeface="Times New Roman" panose="02020603050405020304" pitchFamily="18" charset="0"/>
                <a:cs typeface="Times New Roman" panose="02020603050405020304" pitchFamily="18" charset="0"/>
              </a:rPr>
              <a:t>sample plains of diffraction</a:t>
            </a:r>
          </a:p>
        </p:txBody>
      </p:sp>
      <p:sp>
        <p:nvSpPr>
          <p:cNvPr id="30" name="Arco 29">
            <a:extLst>
              <a:ext uri="{FF2B5EF4-FFF2-40B4-BE49-F238E27FC236}">
                <a16:creationId xmlns:a16="http://schemas.microsoft.com/office/drawing/2014/main" id="{09FCA3A9-EC6E-FD27-4404-1BC621F591C5}"/>
              </a:ext>
            </a:extLst>
          </p:cNvPr>
          <p:cNvSpPr/>
          <p:nvPr/>
        </p:nvSpPr>
        <p:spPr>
          <a:xfrm rot="19127133">
            <a:off x="5411597" y="3279650"/>
            <a:ext cx="635170" cy="584775"/>
          </a:xfrm>
          <a:prstGeom prst="arc">
            <a:avLst>
              <a:gd name="adj1" fmla="val 11919378"/>
              <a:gd name="adj2" fmla="val 16024731"/>
            </a:avLst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CasellaDiTesto 32">
                <a:extLst>
                  <a:ext uri="{FF2B5EF4-FFF2-40B4-BE49-F238E27FC236}">
                    <a16:creationId xmlns:a16="http://schemas.microsoft.com/office/drawing/2014/main" id="{94C6263D-A2B3-51EC-8BED-86A0548710FB}"/>
                  </a:ext>
                </a:extLst>
              </p:cNvPr>
              <p:cNvSpPr txBox="1"/>
              <p:nvPr/>
            </p:nvSpPr>
            <p:spPr>
              <a:xfrm>
                <a:off x="5416081" y="2854553"/>
                <a:ext cx="69960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3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𝜗</m:t>
                      </m:r>
                    </m:oMath>
                  </m:oMathPara>
                </a14:m>
                <a:endParaRPr lang="it-IT" sz="3600"/>
              </a:p>
            </p:txBody>
          </p:sp>
        </mc:Choice>
        <mc:Fallback>
          <p:sp>
            <p:nvSpPr>
              <p:cNvPr id="33" name="CasellaDiTesto 32">
                <a:extLst>
                  <a:ext uri="{FF2B5EF4-FFF2-40B4-BE49-F238E27FC236}">
                    <a16:creationId xmlns:a16="http://schemas.microsoft.com/office/drawing/2014/main" id="{94C6263D-A2B3-51EC-8BED-86A0548710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6081" y="2854553"/>
                <a:ext cx="699608" cy="6463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CasellaDiTesto 37">
                <a:extLst>
                  <a:ext uri="{FF2B5EF4-FFF2-40B4-BE49-F238E27FC236}">
                    <a16:creationId xmlns:a16="http://schemas.microsoft.com/office/drawing/2014/main" id="{31A2BE1D-B346-8CCC-5AA6-9698FAAFCA00}"/>
                  </a:ext>
                </a:extLst>
              </p:cNvPr>
              <p:cNvSpPr txBox="1"/>
              <p:nvPr/>
            </p:nvSpPr>
            <p:spPr>
              <a:xfrm>
                <a:off x="4408881" y="2029713"/>
                <a:ext cx="699608" cy="7282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it-IT" sz="36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it-IT" sz="36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acc>
                        </m:e>
                        <m:sub>
                          <m:r>
                            <a:rPr lang="it-IT" sz="3600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it-IT" sz="3600"/>
              </a:p>
            </p:txBody>
          </p:sp>
        </mc:Choice>
        <mc:Fallback xmlns="">
          <p:sp>
            <p:nvSpPr>
              <p:cNvPr id="38" name="CasellaDiTesto 37">
                <a:extLst>
                  <a:ext uri="{FF2B5EF4-FFF2-40B4-BE49-F238E27FC236}">
                    <a16:creationId xmlns:a16="http://schemas.microsoft.com/office/drawing/2014/main" id="{31A2BE1D-B346-8CCC-5AA6-9698FAAFCA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8881" y="2029713"/>
                <a:ext cx="699608" cy="72827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CasellaDiTesto 38">
                <a:extLst>
                  <a:ext uri="{FF2B5EF4-FFF2-40B4-BE49-F238E27FC236}">
                    <a16:creationId xmlns:a16="http://schemas.microsoft.com/office/drawing/2014/main" id="{51E669B7-5EB9-3F1B-2F29-DCB9773497D3}"/>
                  </a:ext>
                </a:extLst>
              </p:cNvPr>
              <p:cNvSpPr txBox="1"/>
              <p:nvPr/>
            </p:nvSpPr>
            <p:spPr>
              <a:xfrm>
                <a:off x="6414099" y="2029713"/>
                <a:ext cx="954289" cy="7282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it-IT" sz="36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it-IT" sz="36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acc>
                        </m:e>
                        <m:sub>
                          <m:r>
                            <a:rPr lang="it-IT" sz="36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</m:oMath>
                  </m:oMathPara>
                </a14:m>
                <a:endParaRPr lang="it-IT" sz="3600"/>
              </a:p>
            </p:txBody>
          </p:sp>
        </mc:Choice>
        <mc:Fallback xmlns="">
          <p:sp>
            <p:nvSpPr>
              <p:cNvPr id="39" name="CasellaDiTesto 38">
                <a:extLst>
                  <a:ext uri="{FF2B5EF4-FFF2-40B4-BE49-F238E27FC236}">
                    <a16:creationId xmlns:a16="http://schemas.microsoft.com/office/drawing/2014/main" id="{51E669B7-5EB9-3F1B-2F29-DCB9773497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4099" y="2029713"/>
                <a:ext cx="954289" cy="72827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CasellaDiTesto 39">
                <a:extLst>
                  <a:ext uri="{FF2B5EF4-FFF2-40B4-BE49-F238E27FC236}">
                    <a16:creationId xmlns:a16="http://schemas.microsoft.com/office/drawing/2014/main" id="{502D3F7E-A239-1673-87CA-7B0E184FCCFB}"/>
                  </a:ext>
                </a:extLst>
              </p:cNvPr>
              <p:cNvSpPr txBox="1"/>
              <p:nvPr/>
            </p:nvSpPr>
            <p:spPr>
              <a:xfrm>
                <a:off x="3562008" y="3067104"/>
                <a:ext cx="69960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3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it-IT" sz="3600" b="0" i="1" smtClean="0">
                              <a:latin typeface="Cambria Math" panose="02040503050406030204" pitchFamily="18" charset="0"/>
                            </a:rPr>
                            <m:t>𝑎𝑖𝑟</m:t>
                          </m:r>
                        </m:sub>
                      </m:sSub>
                    </m:oMath>
                  </m:oMathPara>
                </a14:m>
                <a:endParaRPr lang="it-IT" sz="3600"/>
              </a:p>
            </p:txBody>
          </p:sp>
        </mc:Choice>
        <mc:Fallback xmlns="">
          <p:sp>
            <p:nvSpPr>
              <p:cNvPr id="40" name="CasellaDiTesto 39">
                <a:extLst>
                  <a:ext uri="{FF2B5EF4-FFF2-40B4-BE49-F238E27FC236}">
                    <a16:creationId xmlns:a16="http://schemas.microsoft.com/office/drawing/2014/main" id="{502D3F7E-A239-1673-87CA-7B0E184FCC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2008" y="3067104"/>
                <a:ext cx="699608" cy="646331"/>
              </a:xfrm>
              <a:prstGeom prst="rect">
                <a:avLst/>
              </a:prstGeom>
              <a:blipFill>
                <a:blip r:embed="rId6"/>
                <a:stretch>
                  <a:fillRect r="-2173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CasellaDiTesto 41">
                <a:extLst>
                  <a:ext uri="{FF2B5EF4-FFF2-40B4-BE49-F238E27FC236}">
                    <a16:creationId xmlns:a16="http://schemas.microsoft.com/office/drawing/2014/main" id="{0F88D17B-0E8C-DFEF-132E-9C514245059B}"/>
                  </a:ext>
                </a:extLst>
              </p:cNvPr>
              <p:cNvSpPr txBox="1"/>
              <p:nvPr/>
            </p:nvSpPr>
            <p:spPr>
              <a:xfrm>
                <a:off x="3581398" y="3604186"/>
                <a:ext cx="69960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3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it-IT" sz="3600" b="0" i="1" smtClean="0">
                              <a:latin typeface="Cambria Math" panose="02040503050406030204" pitchFamily="18" charset="0"/>
                            </a:rPr>
                            <m:t>𝑎𝑖𝑟</m:t>
                          </m:r>
                        </m:sub>
                      </m:sSub>
                    </m:oMath>
                  </m:oMathPara>
                </a14:m>
                <a:endParaRPr lang="it-IT" sz="3600"/>
              </a:p>
            </p:txBody>
          </p:sp>
        </mc:Choice>
        <mc:Fallback xmlns="">
          <p:sp>
            <p:nvSpPr>
              <p:cNvPr id="42" name="CasellaDiTesto 41">
                <a:extLst>
                  <a:ext uri="{FF2B5EF4-FFF2-40B4-BE49-F238E27FC236}">
                    <a16:creationId xmlns:a16="http://schemas.microsoft.com/office/drawing/2014/main" id="{0F88D17B-0E8C-DFEF-132E-9C51424505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1398" y="3604186"/>
                <a:ext cx="699608" cy="646331"/>
              </a:xfrm>
              <a:prstGeom prst="rect">
                <a:avLst/>
              </a:prstGeom>
              <a:blipFill>
                <a:blip r:embed="rId7"/>
                <a:stretch>
                  <a:fillRect r="-2173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CasellaDiTesto 43">
                <a:extLst>
                  <a:ext uri="{FF2B5EF4-FFF2-40B4-BE49-F238E27FC236}">
                    <a16:creationId xmlns:a16="http://schemas.microsoft.com/office/drawing/2014/main" id="{CFD9C6F4-5800-FCB8-0995-7BF0DE91D2F4}"/>
                  </a:ext>
                </a:extLst>
              </p:cNvPr>
              <p:cNvSpPr txBox="1"/>
              <p:nvPr/>
            </p:nvSpPr>
            <p:spPr>
              <a:xfrm>
                <a:off x="7815615" y="3678537"/>
                <a:ext cx="69960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3600" b="0" i="1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it-IT" sz="3600"/>
              </a:p>
            </p:txBody>
          </p:sp>
        </mc:Choice>
        <mc:Fallback xmlns="">
          <p:sp>
            <p:nvSpPr>
              <p:cNvPr id="44" name="CasellaDiTesto 43">
                <a:extLst>
                  <a:ext uri="{FF2B5EF4-FFF2-40B4-BE49-F238E27FC236}">
                    <a16:creationId xmlns:a16="http://schemas.microsoft.com/office/drawing/2014/main" id="{CFD9C6F4-5800-FCB8-0995-7BF0DE91D2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5615" y="3678537"/>
                <a:ext cx="699608" cy="64633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CasellaDiTesto 45">
            <a:extLst>
              <a:ext uri="{FF2B5EF4-FFF2-40B4-BE49-F238E27FC236}">
                <a16:creationId xmlns:a16="http://schemas.microsoft.com/office/drawing/2014/main" id="{CDC1AD33-8976-E84C-5237-A4B043484C03}"/>
              </a:ext>
            </a:extLst>
          </p:cNvPr>
          <p:cNvSpPr txBox="1"/>
          <p:nvPr/>
        </p:nvSpPr>
        <p:spPr>
          <a:xfrm>
            <a:off x="3178406" y="1429320"/>
            <a:ext cx="13904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200">
                <a:latin typeface="Times New Roman" panose="02020603050405020304" pitchFamily="18" charset="0"/>
                <a:cs typeface="Times New Roman" panose="02020603050405020304" pitchFamily="18" charset="0"/>
              </a:rPr>
              <a:t>X-rays</a:t>
            </a:r>
          </a:p>
        </p:txBody>
      </p:sp>
      <p:sp>
        <p:nvSpPr>
          <p:cNvPr id="47" name="CasellaDiTesto 46">
            <a:extLst>
              <a:ext uri="{FF2B5EF4-FFF2-40B4-BE49-F238E27FC236}">
                <a16:creationId xmlns:a16="http://schemas.microsoft.com/office/drawing/2014/main" id="{2033F717-E520-4430-8913-7066E949BEF2}"/>
              </a:ext>
            </a:extLst>
          </p:cNvPr>
          <p:cNvSpPr txBox="1"/>
          <p:nvPr/>
        </p:nvSpPr>
        <p:spPr>
          <a:xfrm>
            <a:off x="6945045" y="1121611"/>
            <a:ext cx="182818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200">
                <a:latin typeface="Times New Roman" panose="02020603050405020304" pitchFamily="18" charset="0"/>
                <a:cs typeface="Times New Roman" panose="02020603050405020304" pitchFamily="18" charset="0"/>
              </a:rPr>
              <a:t>diffracted rays</a:t>
            </a:r>
          </a:p>
        </p:txBody>
      </p:sp>
      <p:cxnSp>
        <p:nvCxnSpPr>
          <p:cNvPr id="53" name="Connettore 2 52">
            <a:extLst>
              <a:ext uri="{FF2B5EF4-FFF2-40B4-BE49-F238E27FC236}">
                <a16:creationId xmlns:a16="http://schemas.microsoft.com/office/drawing/2014/main" id="{0DBE8E60-AFA1-F2CB-BA1F-DF2313ADB07E}"/>
              </a:ext>
            </a:extLst>
          </p:cNvPr>
          <p:cNvCxnSpPr/>
          <p:nvPr/>
        </p:nvCxnSpPr>
        <p:spPr>
          <a:xfrm>
            <a:off x="7866915" y="3722453"/>
            <a:ext cx="0" cy="596212"/>
          </a:xfrm>
          <a:prstGeom prst="straightConnector1">
            <a:avLst/>
          </a:prstGeom>
          <a:ln>
            <a:solidFill>
              <a:srgbClr val="FF0066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Arco 2">
            <a:extLst>
              <a:ext uri="{FF2B5EF4-FFF2-40B4-BE49-F238E27FC236}">
                <a16:creationId xmlns:a16="http://schemas.microsoft.com/office/drawing/2014/main" id="{91145E9A-4849-5EED-6A5C-35BFF3F45E6F}"/>
              </a:ext>
            </a:extLst>
          </p:cNvPr>
          <p:cNvSpPr/>
          <p:nvPr/>
        </p:nvSpPr>
        <p:spPr>
          <a:xfrm rot="4603456">
            <a:off x="6195778" y="3386149"/>
            <a:ext cx="635170" cy="584775"/>
          </a:xfrm>
          <a:prstGeom prst="arc">
            <a:avLst>
              <a:gd name="adj1" fmla="val 12168282"/>
              <a:gd name="adj2" fmla="val 597752"/>
            </a:avLst>
          </a:prstGeom>
          <a:ln>
            <a:solidFill>
              <a:srgbClr val="FF9999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6" name="Connettore 2 5">
            <a:extLst>
              <a:ext uri="{FF2B5EF4-FFF2-40B4-BE49-F238E27FC236}">
                <a16:creationId xmlns:a16="http://schemas.microsoft.com/office/drawing/2014/main" id="{C62DBE40-EF47-6A86-4AA9-158B2EA65B80}"/>
              </a:ext>
            </a:extLst>
          </p:cNvPr>
          <p:cNvCxnSpPr>
            <a:cxnSpLocks/>
          </p:cNvCxnSpPr>
          <p:nvPr/>
        </p:nvCxnSpPr>
        <p:spPr>
          <a:xfrm>
            <a:off x="6084749" y="3699474"/>
            <a:ext cx="2430474" cy="1529434"/>
          </a:xfrm>
          <a:prstGeom prst="straightConnector1">
            <a:avLst/>
          </a:prstGeom>
          <a:ln w="25400" cap="flat" cmpd="sng" algn="ctr">
            <a:solidFill>
              <a:srgbClr val="00B0F0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61A8A6F9-FE90-4B86-FB34-28224E054961}"/>
                  </a:ext>
                </a:extLst>
              </p:cNvPr>
              <p:cNvSpPr txBox="1"/>
              <p:nvPr/>
            </p:nvSpPr>
            <p:spPr>
              <a:xfrm>
                <a:off x="6025427" y="2858211"/>
                <a:ext cx="69960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it-IT" sz="3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𝜗</m:t>
                      </m:r>
                    </m:oMath>
                  </m:oMathPara>
                </a14:m>
                <a:endParaRPr lang="it-IT" sz="3600"/>
              </a:p>
            </p:txBody>
          </p:sp>
        </mc:Choice>
        <mc:Fallback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61A8A6F9-FE90-4B86-FB34-28224E0549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5427" y="2858211"/>
                <a:ext cx="699608" cy="64633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284254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50925E8B-524E-91DE-31BA-3AE8F31CEEFA}"/>
              </a:ext>
            </a:extLst>
          </p:cNvPr>
          <p:cNvSpPr/>
          <p:nvPr/>
        </p:nvSpPr>
        <p:spPr>
          <a:xfrm>
            <a:off x="5049656" y="4815431"/>
            <a:ext cx="2092687" cy="104327"/>
          </a:xfrm>
          <a:prstGeom prst="rect">
            <a:avLst/>
          </a:prstGeom>
          <a:solidFill>
            <a:srgbClr val="00B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Arco 7">
            <a:extLst>
              <a:ext uri="{FF2B5EF4-FFF2-40B4-BE49-F238E27FC236}">
                <a16:creationId xmlns:a16="http://schemas.microsoft.com/office/drawing/2014/main" id="{3305ADEA-B148-7444-466F-5F7A60AA6774}"/>
              </a:ext>
            </a:extLst>
          </p:cNvPr>
          <p:cNvSpPr>
            <a:spLocks noChangeAspect="1"/>
          </p:cNvSpPr>
          <p:nvPr/>
        </p:nvSpPr>
        <p:spPr>
          <a:xfrm rot="11493190">
            <a:off x="3396000" y="2219757"/>
            <a:ext cx="5400000" cy="5400000"/>
          </a:xfrm>
          <a:prstGeom prst="arc">
            <a:avLst>
              <a:gd name="adj1" fmla="val 20142541"/>
              <a:gd name="adj2" fmla="val 10880896"/>
            </a:avLst>
          </a:prstGeom>
          <a:ln w="31750">
            <a:solidFill>
              <a:srgbClr val="FF006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Arco 8">
            <a:extLst>
              <a:ext uri="{FF2B5EF4-FFF2-40B4-BE49-F238E27FC236}">
                <a16:creationId xmlns:a16="http://schemas.microsoft.com/office/drawing/2014/main" id="{545F28E8-1C8C-F244-4FCE-79F9DF168C37}"/>
              </a:ext>
            </a:extLst>
          </p:cNvPr>
          <p:cNvSpPr>
            <a:spLocks noChangeAspect="1"/>
          </p:cNvSpPr>
          <p:nvPr/>
        </p:nvSpPr>
        <p:spPr>
          <a:xfrm rot="663567">
            <a:off x="3755998" y="125035"/>
            <a:ext cx="4680000" cy="4680000"/>
          </a:xfrm>
          <a:prstGeom prst="arc">
            <a:avLst>
              <a:gd name="adj1" fmla="val 20142541"/>
              <a:gd name="adj2" fmla="val 10880896"/>
            </a:avLst>
          </a:prstGeom>
          <a:ln w="31750">
            <a:solidFill>
              <a:srgbClr val="7030A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FB754EA4-EFB8-E689-3B0D-53C2F6F94FB4}"/>
              </a:ext>
            </a:extLst>
          </p:cNvPr>
          <p:cNvSpPr txBox="1"/>
          <p:nvPr/>
        </p:nvSpPr>
        <p:spPr>
          <a:xfrm>
            <a:off x="2197013" y="1387817"/>
            <a:ext cx="174902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200">
                <a:latin typeface="Times New Roman" panose="02020603050405020304" pitchFamily="18" charset="0"/>
                <a:cs typeface="Times New Roman" panose="02020603050405020304" pitchFamily="18" charset="0"/>
              </a:rPr>
              <a:t>focusing</a:t>
            </a:r>
          </a:p>
          <a:p>
            <a:pPr algn="ctr"/>
            <a:r>
              <a:rPr lang="it-IT" sz="3200">
                <a:latin typeface="Times New Roman" panose="02020603050405020304" pitchFamily="18" charset="0"/>
                <a:cs typeface="Times New Roman" panose="02020603050405020304" pitchFamily="18" charset="0"/>
              </a:rPr>
              <a:t>circle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557DB968-2BC6-E0AB-36A8-A521029719FD}"/>
              </a:ext>
            </a:extLst>
          </p:cNvPr>
          <p:cNvSpPr txBox="1"/>
          <p:nvPr/>
        </p:nvSpPr>
        <p:spPr>
          <a:xfrm>
            <a:off x="4787476" y="2350689"/>
            <a:ext cx="261704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200">
                <a:latin typeface="Times New Roman" panose="02020603050405020304" pitchFamily="18" charset="0"/>
                <a:cs typeface="Times New Roman" panose="02020603050405020304" pitchFamily="18" charset="0"/>
              </a:rPr>
              <a:t>diffractometer</a:t>
            </a:r>
          </a:p>
          <a:p>
            <a:pPr algn="ctr"/>
            <a:r>
              <a:rPr lang="it-IT" sz="3200">
                <a:latin typeface="Times New Roman" panose="02020603050405020304" pitchFamily="18" charset="0"/>
                <a:cs typeface="Times New Roman" panose="02020603050405020304" pitchFamily="18" charset="0"/>
              </a:rPr>
              <a:t>circle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CEDF89D8-9507-7A9B-A86B-A11B4930ECF2}"/>
              </a:ext>
            </a:extLst>
          </p:cNvPr>
          <p:cNvSpPr txBox="1"/>
          <p:nvPr/>
        </p:nvSpPr>
        <p:spPr>
          <a:xfrm>
            <a:off x="4963136" y="4840205"/>
            <a:ext cx="14783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200">
                <a:latin typeface="Times New Roman" panose="02020603050405020304" pitchFamily="18" charset="0"/>
                <a:cs typeface="Times New Roman" panose="02020603050405020304" pitchFamily="18" charset="0"/>
              </a:rPr>
              <a:t>sample</a:t>
            </a: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2DDFE1FC-205C-0624-202E-3C2219F2D4C3}"/>
              </a:ext>
            </a:extLst>
          </p:cNvPr>
          <p:cNvSpPr/>
          <p:nvPr/>
        </p:nvSpPr>
        <p:spPr>
          <a:xfrm rot="2060410">
            <a:off x="3377162" y="3080414"/>
            <a:ext cx="1045564" cy="417310"/>
          </a:xfrm>
          <a:prstGeom prst="rect">
            <a:avLst/>
          </a:prstGeom>
          <a:solidFill>
            <a:srgbClr val="FF999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2BD190B8-452F-7CFA-5AFC-68F1CF54C357}"/>
              </a:ext>
            </a:extLst>
          </p:cNvPr>
          <p:cNvSpPr/>
          <p:nvPr/>
        </p:nvSpPr>
        <p:spPr>
          <a:xfrm rot="8638442">
            <a:off x="7765429" y="3071381"/>
            <a:ext cx="1045564" cy="4173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6" name="Connettore 2 15">
            <a:extLst>
              <a:ext uri="{FF2B5EF4-FFF2-40B4-BE49-F238E27FC236}">
                <a16:creationId xmlns:a16="http://schemas.microsoft.com/office/drawing/2014/main" id="{DBE4CBE7-ED78-1A03-6B43-BC3BA43E15E2}"/>
              </a:ext>
            </a:extLst>
          </p:cNvPr>
          <p:cNvCxnSpPr>
            <a:cxnSpLocks/>
            <a:stCxn id="13" idx="3"/>
          </p:cNvCxnSpPr>
          <p:nvPr/>
        </p:nvCxnSpPr>
        <p:spPr>
          <a:xfrm>
            <a:off x="4331607" y="3583973"/>
            <a:ext cx="1764391" cy="1231458"/>
          </a:xfrm>
          <a:prstGeom prst="straightConnector1">
            <a:avLst/>
          </a:prstGeom>
          <a:ln w="19050" cap="flat" cmpd="sng" algn="ctr">
            <a:solidFill>
              <a:srgbClr val="CCCC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" name="Connettore 2 17">
            <a:extLst>
              <a:ext uri="{FF2B5EF4-FFF2-40B4-BE49-F238E27FC236}">
                <a16:creationId xmlns:a16="http://schemas.microsoft.com/office/drawing/2014/main" id="{5BBD0DCF-47CB-E5F7-F4BB-21141EBD6199}"/>
              </a:ext>
            </a:extLst>
          </p:cNvPr>
          <p:cNvCxnSpPr>
            <a:cxnSpLocks/>
            <a:stCxn id="13" idx="3"/>
          </p:cNvCxnSpPr>
          <p:nvPr/>
        </p:nvCxnSpPr>
        <p:spPr>
          <a:xfrm>
            <a:off x="4331607" y="3583973"/>
            <a:ext cx="1400270" cy="1256232"/>
          </a:xfrm>
          <a:prstGeom prst="straightConnector1">
            <a:avLst/>
          </a:prstGeom>
          <a:ln w="19050" cap="flat" cmpd="sng" algn="ctr">
            <a:solidFill>
              <a:srgbClr val="CCCC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Connettore 2 19">
            <a:extLst>
              <a:ext uri="{FF2B5EF4-FFF2-40B4-BE49-F238E27FC236}">
                <a16:creationId xmlns:a16="http://schemas.microsoft.com/office/drawing/2014/main" id="{ACB3D1CE-A2D0-6795-CF9A-7BEF0CB3A7A3}"/>
              </a:ext>
            </a:extLst>
          </p:cNvPr>
          <p:cNvCxnSpPr>
            <a:cxnSpLocks/>
            <a:stCxn id="13" idx="3"/>
          </p:cNvCxnSpPr>
          <p:nvPr/>
        </p:nvCxnSpPr>
        <p:spPr>
          <a:xfrm>
            <a:off x="4331607" y="3583973"/>
            <a:ext cx="2126513" cy="1231458"/>
          </a:xfrm>
          <a:prstGeom prst="straightConnector1">
            <a:avLst/>
          </a:prstGeom>
          <a:ln w="19050" cap="flat" cmpd="sng" algn="ctr">
            <a:solidFill>
              <a:srgbClr val="CCCC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" name="Connettore 2 26">
            <a:extLst>
              <a:ext uri="{FF2B5EF4-FFF2-40B4-BE49-F238E27FC236}">
                <a16:creationId xmlns:a16="http://schemas.microsoft.com/office/drawing/2014/main" id="{87D2C5F6-B98D-F8BF-BA52-D5B0C3503F5C}"/>
              </a:ext>
            </a:extLst>
          </p:cNvPr>
          <p:cNvCxnSpPr>
            <a:cxnSpLocks/>
            <a:stCxn id="4" idx="0"/>
            <a:endCxn id="14" idx="3"/>
          </p:cNvCxnSpPr>
          <p:nvPr/>
        </p:nvCxnSpPr>
        <p:spPr>
          <a:xfrm flipV="1">
            <a:off x="6096000" y="3587511"/>
            <a:ext cx="1769411" cy="1227920"/>
          </a:xfrm>
          <a:prstGeom prst="straightConnector1">
            <a:avLst/>
          </a:prstGeom>
          <a:ln w="19050" cap="flat" cmpd="sng" algn="ctr">
            <a:solidFill>
              <a:srgbClr val="CCCC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0" name="Connettore 2 29">
            <a:extLst>
              <a:ext uri="{FF2B5EF4-FFF2-40B4-BE49-F238E27FC236}">
                <a16:creationId xmlns:a16="http://schemas.microsoft.com/office/drawing/2014/main" id="{5BC90140-4E8A-7864-099E-0BFE904FF821}"/>
              </a:ext>
            </a:extLst>
          </p:cNvPr>
          <p:cNvCxnSpPr>
            <a:cxnSpLocks/>
            <a:endCxn id="14" idx="3"/>
          </p:cNvCxnSpPr>
          <p:nvPr/>
        </p:nvCxnSpPr>
        <p:spPr>
          <a:xfrm flipV="1">
            <a:off x="5731877" y="3587511"/>
            <a:ext cx="2133534" cy="1238538"/>
          </a:xfrm>
          <a:prstGeom prst="straightConnector1">
            <a:avLst/>
          </a:prstGeom>
          <a:ln w="19050" cap="flat" cmpd="sng" algn="ctr">
            <a:solidFill>
              <a:srgbClr val="CCCC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2" name="Connettore 2 31">
            <a:extLst>
              <a:ext uri="{FF2B5EF4-FFF2-40B4-BE49-F238E27FC236}">
                <a16:creationId xmlns:a16="http://schemas.microsoft.com/office/drawing/2014/main" id="{A599472E-6628-6164-6AA7-FDF97516327D}"/>
              </a:ext>
            </a:extLst>
          </p:cNvPr>
          <p:cNvCxnSpPr>
            <a:cxnSpLocks/>
            <a:endCxn id="14" idx="3"/>
          </p:cNvCxnSpPr>
          <p:nvPr/>
        </p:nvCxnSpPr>
        <p:spPr>
          <a:xfrm flipV="1">
            <a:off x="6444819" y="3587511"/>
            <a:ext cx="1420592" cy="1226151"/>
          </a:xfrm>
          <a:prstGeom prst="straightConnector1">
            <a:avLst/>
          </a:prstGeom>
          <a:ln w="19050" cap="flat" cmpd="sng" algn="ctr">
            <a:solidFill>
              <a:srgbClr val="CCCC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EC302FAE-A28C-448C-F716-F92EEE11ADCB}"/>
              </a:ext>
            </a:extLst>
          </p:cNvPr>
          <p:cNvSpPr txBox="1"/>
          <p:nvPr/>
        </p:nvSpPr>
        <p:spPr>
          <a:xfrm>
            <a:off x="1725449" y="3171486"/>
            <a:ext cx="20293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200">
                <a:latin typeface="Times New Roman" panose="02020603050405020304" pitchFamily="18" charset="0"/>
                <a:cs typeface="Times New Roman" panose="02020603050405020304" pitchFamily="18" charset="0"/>
              </a:rPr>
              <a:t>X-ray tube</a:t>
            </a:r>
          </a:p>
        </p:txBody>
      </p:sp>
      <p:sp>
        <p:nvSpPr>
          <p:cNvPr id="35" name="CasellaDiTesto 34">
            <a:extLst>
              <a:ext uri="{FF2B5EF4-FFF2-40B4-BE49-F238E27FC236}">
                <a16:creationId xmlns:a16="http://schemas.microsoft.com/office/drawing/2014/main" id="{854263A7-4711-DA9C-12EF-8AA5A71763F3}"/>
              </a:ext>
            </a:extLst>
          </p:cNvPr>
          <p:cNvSpPr txBox="1"/>
          <p:nvPr/>
        </p:nvSpPr>
        <p:spPr>
          <a:xfrm>
            <a:off x="8437176" y="3225696"/>
            <a:ext cx="15578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200">
                <a:latin typeface="Times New Roman" panose="02020603050405020304" pitchFamily="18" charset="0"/>
                <a:cs typeface="Times New Roman" panose="02020603050405020304" pitchFamily="18" charset="0"/>
              </a:rPr>
              <a:t>detector</a:t>
            </a:r>
          </a:p>
        </p:txBody>
      </p:sp>
      <p:cxnSp>
        <p:nvCxnSpPr>
          <p:cNvPr id="36" name="Connettore 2 35">
            <a:extLst>
              <a:ext uri="{FF2B5EF4-FFF2-40B4-BE49-F238E27FC236}">
                <a16:creationId xmlns:a16="http://schemas.microsoft.com/office/drawing/2014/main" id="{D21F4FEF-7216-016D-EE14-0D425CC3982E}"/>
              </a:ext>
            </a:extLst>
          </p:cNvPr>
          <p:cNvCxnSpPr>
            <a:cxnSpLocks/>
          </p:cNvCxnSpPr>
          <p:nvPr/>
        </p:nvCxnSpPr>
        <p:spPr>
          <a:xfrm>
            <a:off x="6098509" y="4822511"/>
            <a:ext cx="1764391" cy="1231458"/>
          </a:xfrm>
          <a:prstGeom prst="straightConnector1">
            <a:avLst/>
          </a:prstGeom>
          <a:ln w="19050" cap="flat" cmpd="sng" algn="ctr">
            <a:solidFill>
              <a:srgbClr val="CCCC00"/>
            </a:solidFill>
            <a:prstDash val="dashDot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7" name="Arco 36">
            <a:extLst>
              <a:ext uri="{FF2B5EF4-FFF2-40B4-BE49-F238E27FC236}">
                <a16:creationId xmlns:a16="http://schemas.microsoft.com/office/drawing/2014/main" id="{DD36765B-859F-F510-0FA7-B37512F2508F}"/>
              </a:ext>
            </a:extLst>
          </p:cNvPr>
          <p:cNvSpPr>
            <a:spLocks noChangeAspect="1"/>
          </p:cNvSpPr>
          <p:nvPr/>
        </p:nvSpPr>
        <p:spPr>
          <a:xfrm rot="5019651">
            <a:off x="6264212" y="4346671"/>
            <a:ext cx="948142" cy="948142"/>
          </a:xfrm>
          <a:prstGeom prst="arc">
            <a:avLst>
              <a:gd name="adj1" fmla="val 11677876"/>
              <a:gd name="adj2" fmla="val 0"/>
            </a:avLst>
          </a:prstGeom>
          <a:noFill/>
          <a:ln>
            <a:solidFill>
              <a:srgbClr val="33CCCC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8" name="Arco 37">
            <a:extLst>
              <a:ext uri="{FF2B5EF4-FFF2-40B4-BE49-F238E27FC236}">
                <a16:creationId xmlns:a16="http://schemas.microsoft.com/office/drawing/2014/main" id="{0B2D3266-0E40-EBBF-6479-1C02080449B2}"/>
              </a:ext>
            </a:extLst>
          </p:cNvPr>
          <p:cNvSpPr>
            <a:spLocks noChangeAspect="1"/>
          </p:cNvSpPr>
          <p:nvPr/>
        </p:nvSpPr>
        <p:spPr>
          <a:xfrm rot="11680475">
            <a:off x="5222784" y="4329141"/>
            <a:ext cx="523034" cy="523034"/>
          </a:xfrm>
          <a:prstGeom prst="arc">
            <a:avLst>
              <a:gd name="adj1" fmla="val 17480649"/>
              <a:gd name="adj2" fmla="val 3413744"/>
            </a:avLst>
          </a:prstGeom>
          <a:ln>
            <a:solidFill>
              <a:srgbClr val="33CCCC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CasellaDiTesto 39">
                <a:extLst>
                  <a:ext uri="{FF2B5EF4-FFF2-40B4-BE49-F238E27FC236}">
                    <a16:creationId xmlns:a16="http://schemas.microsoft.com/office/drawing/2014/main" id="{E052DD09-5587-D232-64BF-A8EB878AF7B1}"/>
                  </a:ext>
                </a:extLst>
              </p:cNvPr>
              <p:cNvSpPr txBox="1"/>
              <p:nvPr/>
            </p:nvSpPr>
            <p:spPr>
              <a:xfrm>
                <a:off x="4333959" y="4441855"/>
                <a:ext cx="108215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3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𝜗</m:t>
                      </m:r>
                    </m:oMath>
                  </m:oMathPara>
                </a14:m>
                <a:endParaRPr lang="it-IT" sz="3600"/>
              </a:p>
            </p:txBody>
          </p:sp>
        </mc:Choice>
        <mc:Fallback>
          <p:sp>
            <p:nvSpPr>
              <p:cNvPr id="40" name="CasellaDiTesto 39">
                <a:extLst>
                  <a:ext uri="{FF2B5EF4-FFF2-40B4-BE49-F238E27FC236}">
                    <a16:creationId xmlns:a16="http://schemas.microsoft.com/office/drawing/2014/main" id="{E052DD09-5587-D232-64BF-A8EB878AF7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3959" y="4441855"/>
                <a:ext cx="1082154" cy="64633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CasellaDiTesto 40">
                <a:extLst>
                  <a:ext uri="{FF2B5EF4-FFF2-40B4-BE49-F238E27FC236}">
                    <a16:creationId xmlns:a16="http://schemas.microsoft.com/office/drawing/2014/main" id="{5E636569-B5A5-257A-E6E7-27BA16856681}"/>
                  </a:ext>
                </a:extLst>
              </p:cNvPr>
              <p:cNvSpPr txBox="1"/>
              <p:nvPr/>
            </p:nvSpPr>
            <p:spPr>
              <a:xfrm>
                <a:off x="6988524" y="4445683"/>
                <a:ext cx="108215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it-IT" sz="3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𝜗</m:t>
                      </m:r>
                    </m:oMath>
                  </m:oMathPara>
                </a14:m>
                <a:endParaRPr lang="it-IT" sz="3600"/>
              </a:p>
            </p:txBody>
          </p:sp>
        </mc:Choice>
        <mc:Fallback>
          <p:sp>
            <p:nvSpPr>
              <p:cNvPr id="41" name="CasellaDiTesto 40">
                <a:extLst>
                  <a:ext uri="{FF2B5EF4-FFF2-40B4-BE49-F238E27FC236}">
                    <a16:creationId xmlns:a16="http://schemas.microsoft.com/office/drawing/2014/main" id="{5E636569-B5A5-257A-E6E7-27BA168566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8524" y="4445683"/>
                <a:ext cx="1082154" cy="6463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4222799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3153</TotalTime>
  <Words>27</Words>
  <Application>Microsoft Office PowerPoint</Application>
  <PresentationFormat>Widescreen</PresentationFormat>
  <Paragraphs>20</Paragraphs>
  <Slides>2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</vt:i4>
      </vt:variant>
    </vt:vector>
  </HeadingPairs>
  <TitlesOfParts>
    <vt:vector size="8" baseType="lpstr">
      <vt:lpstr>Aptos</vt:lpstr>
      <vt:lpstr>Aptos Display</vt:lpstr>
      <vt:lpstr>Arial</vt:lpstr>
      <vt:lpstr>Cambria Math</vt:lpstr>
      <vt:lpstr>Times New Roman</vt:lpstr>
      <vt:lpstr>Tema di Office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Luca Sanna</dc:creator>
  <cp:lastModifiedBy>Luca Sanna</cp:lastModifiedBy>
  <cp:revision>40</cp:revision>
  <dcterms:created xsi:type="dcterms:W3CDTF">2025-12-03T12:54:43Z</dcterms:created>
  <dcterms:modified xsi:type="dcterms:W3CDTF">2025-12-05T21:24:29Z</dcterms:modified>
</cp:coreProperties>
</file>